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90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40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A3F7A">
              <a:alpha val="40000"/>
            </a:srgbClr>
          </a:solidFill>
          <a:ln w="12700">
            <a:solidFill>
              <a:srgbClr val="2A3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560320"/>
            <a:ext cx="2011680" cy="201168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90D9"/>
                </a:solidFill>
              </a:rPr>
              <a:t>需求分析 — Requirements Analysis v5.0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AI驱动全球公寓租赁平台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AI-Powered Global Rental Platform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20116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992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</a:rPr>
              <a:t>面向大型公寓管理机构 · 押金优先预订 · 在线合同签署 · 微信支付 · v1中文版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AI搜索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37560" y="356616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0D9488">
              <a:alpha val="2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BD管理员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C2185B">
              <a:alpha val="25000"/>
            </a:srgbClr>
          </a:solidFill>
          <a:ln w="635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押金预订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DC4E3A">
              <a:alpha val="25000"/>
            </a:srgbClr>
          </a:solidFill>
          <a:ln w="6350">
            <a:solidFill>
              <a:srgbClr val="DC4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在线合同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37560" y="3913632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4A90D9">
              <a:alpha val="25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微信小程序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72200" y="3913632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2E7D32">
              <a:alpha val="25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二手市场 (未来)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C"/>
                </a:solidFill>
              </a:rPr>
              <a:t>目录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32688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32688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9264" y="9966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角色与用户 Stakeholders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12618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租客 · BD经理 · 公寓管理机构 · 系统管理员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36776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36776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" y="17007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认证与身份 Authentication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9264" y="19659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平台注册 + 微信登录选项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40864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40864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24048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AI公寓搜索 AI Search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9264" y="26700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自然语言对话 · 语义搜索 · POI展示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44952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44952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" y="31089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BD注册功能 BD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9264" y="33741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机构注册 · 公寓类型 · AI信息增强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49040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" y="38130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押金预订流程 Booking 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9264" y="40782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押金优先 · API路径 · 人工申请路径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453128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53128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531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" y="45171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在线合同 Contract &amp; Signing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9264" y="47823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合同生成 · 文件上传 · 电子签名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932688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932688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93268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58384" y="9966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支付与取消 Payment &amp; Cancellation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58384" y="12618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微信支付 · 服务费公示 · 简化取消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1636776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1636776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636776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58384" y="17007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系统架构 Architecture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58384" y="19659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客户端 · 网关 · 服务层 · 外部集成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2340864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340864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340864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58384" y="24048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版本规划 Release Phasing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58384" y="26700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v1核心 → v1.5扩展 → v2新模块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3044952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044952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044952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58384" y="31089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未来模块 Future Modules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58384" y="33741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二手交易市场 · 本地新闻 · 广告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46320" y="3749040"/>
            <a:ext cx="402336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749040"/>
            <a:ext cx="438912" cy="603504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749040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11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58384" y="38130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待确认问题 Open Questions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358384" y="40782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7项待决策事项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01  角色与用户 Stakeholders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solidFill>
            <a:srgbClr val="FCE8E6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96112"/>
            <a:ext cx="7973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7C1A0C"/>
                </a:solidFill>
              </a:rPr>
              <a:t>已移除：个人房东和合作伙伴平台角色。新增：BD经理（内部员工）注册机构和公寓类型信息。公寓管理机构不直接使用系统，由BD经理在系统中代为录入。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9933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3456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481328"/>
            <a:ext cx="594360" cy="594360"/>
          </a:xfrm>
          <a:prstGeom prst="ellipse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租客 Tenant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终端用户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" y="272491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2798064"/>
            <a:ext cx="17373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通过AI对话搜索公寓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查看AI增强的公寓详情页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微信支付押金以发起预订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追踪预订/申请状态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上传所需文件并在线签合同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查看押金服务费及取消说明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389888"/>
            <a:ext cx="19933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389888"/>
            <a:ext cx="64008" cy="3456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1481328"/>
            <a:ext cx="594360" cy="59436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21762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BD经理 BD Manager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48716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内部员工角色（仅限邀请）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33472" y="272491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798064"/>
            <a:ext cx="17373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注册和管理公寓管理机构资料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在机构下录入公寓类型信息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配置机构是否提供在线API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审核AI生成的周边POI信息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不直接处理支付或合同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1389888"/>
            <a:ext cx="19933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389888"/>
            <a:ext cx="64008" cy="3456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12664" y="1481328"/>
            <a:ext cx="594360" cy="59436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266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9160" y="21762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公寓管理机构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48716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大型机构，非直接系统用户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82312" y="272491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2798064"/>
            <a:ext cx="17373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由BD经理在系统中录入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可提供实时可用性检查API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无API则接收系统发送的申请邮件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与租客直接处理取消事宜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不登录系统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66560" y="1389888"/>
            <a:ext cx="19933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1389888"/>
            <a:ext cx="64008" cy="3456432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61504" y="1481328"/>
            <a:ext cx="594360" cy="594360"/>
          </a:xfrm>
          <a:prstGeom prst="ellipse">
            <a:avLst/>
          </a:prstGeom>
          <a:solidFill>
            <a:srgbClr val="DC4E3A">
              <a:alpha val="85000"/>
            </a:srgbClr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150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系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21762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系统管理员 Admin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48716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仅限邀请 · 强制MFA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31152" y="272491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2798064"/>
            <a:ext cx="17373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管理所有用户账户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审核机构和公寓类型数据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管理押金服务费率和取消公告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监管押金支付和退款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平台配置与审计日志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02  认证与身份 Authentication &amp; Identity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solidFill>
            <a:srgbClr val="D6E8F7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96112"/>
            <a:ext cx="7973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E2D5C"/>
                </a:solidFill>
              </a:rPr>
              <a:t>所有角色通过平台原生邮箱+密码注册。微信、Google、Apple为可选SSO登录方式，绑定到平台账户。微信绑定后可解锁小程序、微信支付和微信推送通知。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9748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34015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租客 Tenant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865376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邮箱+密码注册（主要方式）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微信一键登录（可选）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Google/Apple登录（可选，v1.5）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绑定微信账号后解锁小程序和微信支付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个人资料：姓名、联系方式、证件信息（用于合同）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417320"/>
            <a:ext cx="269748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417320"/>
            <a:ext cx="64008" cy="3401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BD经理 BD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865376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仅限管理员邀请创建账户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邮箱+密码登录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建议开启TOTP双因素认证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可访问BD管理后台（机构和公寓类型管理）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不提供微信SSO登录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417320"/>
            <a:ext cx="269748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417320"/>
            <a:ext cx="64008" cy="3401568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系统管理员 Admin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65376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仅限邀请创建，无自助注册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邮箱+密码登录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强制TOTP双因素认证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可访问所有管理功能：用户、机构、支付、合同、配置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不提供第三方SSO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8229600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92861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5200"/>
                </a:solidFill>
              </a:rPr>
              <a:t>微信功能开关：未绑定微信账号 → 仅网页版 + 邮件通知 + Stripe支付。绑定微信后 → 额外解锁：小程序、微信支付（押金）、微信推送通知。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03  AI公寓搜索 AI Search &amp; Apartment Detail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41248"/>
            <a:ext cx="4041648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64008" cy="41330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32688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AI搜索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AI对话搜索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主页设置大型对话框，租客以自然语言输入需求（预算、地区、户型、入住时间）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大语言模型将自然语言转换为结构化查询参数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在公寓类型数据库中进行语义搜索，结果按相关性排序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支持对话式追问，无需重新输入所有条件（如"便宜一点的"）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搜索结果以卡片列表展示，高亮匹配属性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搜索可引用POI数据（如"地铁站附近"）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LLM不可用时，降级为关键词搜索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841248"/>
            <a:ext cx="4005072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841248"/>
            <a:ext cx="64008" cy="4133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888" y="932688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CCEFE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9326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AI增强详情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18888" y="12435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公寓详情页 &amp; AI信息增强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71246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BD经理录入公寓类型后，系统根据地址自动生成周边信息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生成内容包括：购物中心、超市、餐厅、咖啡馆、地铁/公交站、医院、学校、公园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数据来源：高德地图API + 大语言模型生成叙述性描述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BD经理在发布前审核并确认生成内容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租客详情页展示：BD录入信息 + AI生成的周边概述 + 地图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展示押金金额和服务费提示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04  BD注册功能 BD Manager Registration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41248"/>
            <a:ext cx="4041648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64008" cy="22128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机构注册 Institute Registration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16736"/>
            <a:ext cx="374904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BD经理创建机构档案：名称、地址、联系方式、Logo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配置API连接：该机构是否提供实时可用性API？如是，填写接入地址、认证凭据和字段映射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无API的机构：配置申请接收邮箱/通知地址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新机构档案需管理员审核通过后才可上线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841248"/>
            <a:ext cx="400507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841248"/>
            <a:ext cx="64008" cy="22128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914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公寓类型注册 Apartment Type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16736"/>
            <a:ext cx="3712464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BD经理在机构下录入公寓类型：单间、一居室、二居室等，含户型图、面积、租金范围、设施、照片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设置各类型的押金金额和平台服务费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公寓类型代表一个类别，非具体单元；具体可用性在预订时查询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一个机构下可注册多个公寓类型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修改已发布类型需管理员审核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机构API配置说明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56432"/>
          <a:ext cx="8229600" cy="157277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5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配置项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API接入机构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无API机构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可用性查询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实时API调用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发送邮件申请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预订确认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API自动确认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机构人工确认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合同触发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API确认后立即生成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机构确认后生成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租客等待时间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近实时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显示申请中状态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05  押金预订流程 Deposit-First Booking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solidFill>
            <a:srgbClr val="D6E8F7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96112"/>
            <a:ext cx="7973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E2D5C"/>
                </a:solidFill>
              </a:rPr>
              <a:t>押金优先逻辑：租客先支付押金，押金确认后系统才向机构查询可用性。根据机构是否提供API，流程分为两条路径。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路径 A — 机构提供在线API (Path A — Institute has API)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选择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公寓类型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5336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92808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808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91056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支付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押金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9464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33472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80944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80944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79192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押金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确认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1608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67328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API查询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可用性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45736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9744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7216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57216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55464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系统向机构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发起预订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33872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生成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合同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22008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6016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33488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33488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31736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上传文件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电子签名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10144" y="1993392"/>
            <a:ext cx="64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74152" y="1645920"/>
            <a:ext cx="1024128" cy="713232"/>
          </a:xfrm>
          <a:prstGeom prst="rect">
            <a:avLst/>
          </a:prstGeom>
          <a:solidFill>
            <a:srgbClr val="CCEFE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21624" y="1691640"/>
            <a:ext cx="31089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1624" y="16916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19872" y="193852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预订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确认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2395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若API返回无可用单元 → 全额退还押金，通知租客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2651760"/>
            <a:ext cx="82296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267004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路径 B — 机构无在线系统 (Path B — No API)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选择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公寓类型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481328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45336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92808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92808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91056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支付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押金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9464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33472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80944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80944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679192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押金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确认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57600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21608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69080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9080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767328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系统发送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申请至机构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45736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09744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57216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57216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55464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租客看到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"申请中"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833872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97880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45352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45352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943600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机构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确认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922008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86016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33488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33488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031736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生成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合同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010144" y="3291840"/>
            <a:ext cx="6400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74152" y="2944368"/>
            <a:ext cx="1024128" cy="7132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21624" y="2990088"/>
            <a:ext cx="31089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21624" y="29900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119872" y="32369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上传文件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电子签名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57200" y="36941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若机构拒绝 → 全额退还押金，通知租客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57200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预订状态机 Booking Status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5720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64748B">
              <a:alpha val="2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押金待支付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69164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4A90D9">
              <a:alpha val="25000"/>
            </a:srgbClr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9164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押金已确认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92608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D97706">
              <a:alpha val="2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2608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查询中/申请中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16052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0D9488">
              <a:alpha val="2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6052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预订成功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39496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39496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合同待签署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62940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2E7D32">
              <a:alpha val="25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2940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已完成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863840" y="4261104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DC4E3A">
              <a:alpha val="25000"/>
            </a:srgbClr>
          </a:solidFill>
          <a:ln w="6350">
            <a:solidFill>
              <a:srgbClr val="DC4E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63840" y="4261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押金已退还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06  在线合同 Contract Preparation &amp; E-Signing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41248"/>
            <a:ext cx="404164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64008" cy="2377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合同生成 Contract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16736"/>
            <a:ext cx="37490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机构确认预订后，系统根据模板自动生成合同草稿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合同模板由管理员管理；BD经理可为各机构关联自定义模板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合同自动填入：公寓类型详情、租客姓名、押金金额、入住日期、机构信息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租客在平台内查阅合同后再签署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已签合同由系统存档，租客可下载，机构可访问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841248"/>
            <a:ext cx="400507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841248"/>
            <a:ext cx="64008" cy="2377440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914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文件上传与电子签名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16736"/>
            <a:ext cx="3712464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系统提供各机构所需文件清单（如身份证、收入证明、签证）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租客在平台内直接上传文件（照片或PDF）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文件加密存储，提交后共享给机构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在线电子签名：租客在平台内签署准备好的合同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签署完成后向租客和机构发送通知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e-signature法律效力需按国家/地区进行法律审查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文件与合同流程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21024"/>
            <a:ext cx="1170432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预订确认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27632" y="3950208"/>
            <a:ext cx="7315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3621024"/>
            <a:ext cx="117043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系统生成合同草稿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71216" y="3950208"/>
            <a:ext cx="7315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44368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44368" y="3621024"/>
            <a:ext cx="1170432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0944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租客查看合同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0" y="3950208"/>
            <a:ext cx="7315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87952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87952" y="3621024"/>
            <a:ext cx="1170432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租客上传所需文件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58384" y="3950208"/>
            <a:ext cx="7315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31536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3621024"/>
            <a:ext cx="1170432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租客电子签名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01968" y="3950208"/>
            <a:ext cx="7315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3621024"/>
            <a:ext cx="1170432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通知机构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合同完成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845552" y="3950208"/>
            <a:ext cx="7315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18704" y="3621024"/>
            <a:ext cx="117043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18704" y="3621024"/>
            <a:ext cx="117043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7856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存档&amp;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可下载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389120"/>
            <a:ext cx="8229600" cy="43891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4462272"/>
            <a:ext cx="7973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7C5200"/>
                </a:solidFill>
              </a:rPr>
              <a:t>待确认：电子签名在哪些国家/地区具有法律效力？各机构是否需要自定义合同模板？合同草稿由谁起草（法务部门/BD团队/机构自备）？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07  支付与取消 Payment &amp; Cancellation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41248"/>
            <a:ext cx="404164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64008" cy="32918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支付 Payment (v1)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16736"/>
            <a:ext cx="3749040" cy="2670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v1唯一支付方式：微信支付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租客支付由BD经理设置的押金金额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押金由平台通过微信支付商户账户收取并持有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平台从押金中扣除服务费（费率由管理员设置）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若机构拒绝或无可用单元，退还押金余额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支付凭证通过微信服务消息发送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v1不需要Stripe，不需要各国银行账户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未来版本可按需添加其他支付方式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841248"/>
            <a:ext cx="400507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841248"/>
            <a:ext cx="64008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914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取消政策 Cancellation (简化版)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16736"/>
            <a:ext cx="3712464" cy="2670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不需要复杂的分级取消政策引擎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租客直接与公寓管理机构协商取消事宜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系统在结账前明确显示押金服务费公示：平台将保留固定服务费；剩余部分按机构政策退还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管理员管理服务费率和取消公示文本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系统仅记录取消事件用于审计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不需要分级退款逻辑或纠纷仲裁流程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224528"/>
            <a:ext cx="8229600" cy="91440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24528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7939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5200"/>
                </a:solidFill>
              </a:rPr>
              <a:t>押金服务费公示示例（租客在支付前看到）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453542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3806"/>
                </a:solidFill>
              </a:rPr>
              <a:t>您将支付押金 ¥3,000。其中平台服务费 ¥300（10%）为不可退款费用，用于支付申请和合同服务。若预订成功，剩余 ¥2,700 将作为租房押金转交机构。若机构无可用单元或拒绝申请，¥2,700 将在5个工作日内原路退还。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08  系统架构 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8321040" cy="201168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客户端 CLIENT CHANNELS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1600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1600200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529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网页 Web App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React SPA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31136" y="1024128"/>
            <a:ext cx="1828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1136" y="1024128"/>
            <a:ext cx="18288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1225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微信小程序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76856" y="14813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WeChat Mini Program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233672" y="1024128"/>
            <a:ext cx="1783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1024128"/>
            <a:ext cx="17830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2252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BD管理后台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79392" y="14813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BD Manager Portal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190488" y="1024128"/>
            <a:ext cx="1828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1024128"/>
            <a:ext cx="1828800" cy="164592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225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管理员控制台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36208" y="14813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Admin Console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1024128"/>
            <a:ext cx="16002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024128"/>
            <a:ext cx="1600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024128"/>
            <a:ext cx="1600200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22529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网页 Web App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14813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React SPA (ZH v1)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" y="1819656"/>
            <a:ext cx="8321040" cy="201168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8196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认证层 AUTH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2020824"/>
            <a:ext cx="8229600" cy="402336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0756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Auth Service — 邮箱/密码 · 微信OAuth · JWT · TOTP MFA · 账户绑定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523744"/>
            <a:ext cx="8321040" cy="201168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2374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API网关 GATEWAY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706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API Gateway — 路由 · 限流 · 认证校验 · 版本管理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182112"/>
            <a:ext cx="8321040" cy="201168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1821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内部服务 INTERNAL SERVICES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383280"/>
            <a:ext cx="9692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AI搜索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LLM·语义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499616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99616" y="3383280"/>
            <a:ext cx="969264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5336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公寓服务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545336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类型·POI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542032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42032" y="3383280"/>
            <a:ext cx="969264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87752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BD服务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87752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机构·注册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584448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84448" y="3383280"/>
            <a:ext cx="969264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30168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预订服务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30168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状态机·流程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26864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26864" y="3383280"/>
            <a:ext cx="969264" cy="16459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72584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支付服务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72584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微信支付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69280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69280" y="3383280"/>
            <a:ext cx="969264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合同服务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15000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生成·签署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711696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11696" y="3383280"/>
            <a:ext cx="969264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57416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通知服务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57416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微信·邮件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754112" y="3383280"/>
            <a:ext cx="969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54112" y="3383280"/>
            <a:ext cx="969264" cy="164592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99832" y="35844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管理服务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799832" y="38404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审核·审计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57200" y="4078224"/>
            <a:ext cx="8229600" cy="292608"/>
          </a:xfrm>
          <a:prstGeom prst="rect">
            <a:avLst/>
          </a:prstGeom>
          <a:solidFill>
            <a:srgbClr val="EDF2F7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11480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数据层 — PostgreSQL · Redis · Elasticsearch · S3文件存储 · 合同归档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11480" y="4462272"/>
            <a:ext cx="8321040" cy="201168"/>
          </a:xfrm>
          <a:prstGeom prst="rect">
            <a:avLst/>
          </a:prstGeom>
          <a:solidFill>
            <a:srgbClr val="1E2D5C"/>
          </a:solidFill>
          <a:ln w="12700">
            <a:solidFill>
              <a:srgbClr val="1E2D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4622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外部集成 EXTERNAL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57200" y="4663440"/>
            <a:ext cx="1316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4663440"/>
            <a:ext cx="1316736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4818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大语言模型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02920" y="5010912"/>
            <a:ext cx="1225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搜索·增强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847088" y="4663440"/>
            <a:ext cx="1316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47088" y="4663440"/>
            <a:ext cx="1316736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92808" y="4818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微信平台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892808" y="5010912"/>
            <a:ext cx="1225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OAuth·Pay·Push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236976" y="4663440"/>
            <a:ext cx="1316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36976" y="4663440"/>
            <a:ext cx="1316736" cy="137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82696" y="4818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高德地图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282696" y="5010912"/>
            <a:ext cx="1225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POI·地图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626864" y="4663440"/>
            <a:ext cx="1316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26864" y="4663440"/>
            <a:ext cx="1316736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72584" y="4818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机构API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4672584" y="5010912"/>
            <a:ext cx="1225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可用性查询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16752" y="4663440"/>
            <a:ext cx="1316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16752" y="4663440"/>
            <a:ext cx="1316736" cy="137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62472" y="4818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邮件/SMS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062472" y="5010912"/>
            <a:ext cx="1225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通知服务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406640" y="4663440"/>
            <a:ext cx="13167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06640" y="4663440"/>
            <a:ext cx="1316736" cy="137160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52360" y="4818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电子签名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452360" y="5010912"/>
            <a:ext cx="1225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签署服务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09  版本规划 Release Phasing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41248"/>
            <a:ext cx="2697480" cy="621792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核心平台 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697480" cy="3621024"/>
          </a:xfrm>
          <a:prstGeom prst="rect">
            <a:avLst/>
          </a:prstGeom>
          <a:solidFill>
            <a:srgbClr val="FCE8E6"/>
          </a:solidFill>
          <a:ln w="6350">
            <a:solidFill>
              <a:srgbClr val="DC4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554480"/>
            <a:ext cx="2423160" cy="3438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租客注册 + 微信SSO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BD经理账户 + 机构和公寓类型注册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AI对话搜索（中文）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AI增强公寓详情页（高德POI + LLM叙述）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押金预订流程（API路径 + 非API路径）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微信支付押金收取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在线合同生成 + 电子签名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押金服务费公示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管理员控制台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微信小程序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微信 + 邮件通知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841248"/>
            <a:ext cx="269748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87782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v1.5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64408" y="11612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扩展 Expansion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463040"/>
            <a:ext cx="2697480" cy="3621024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554480"/>
            <a:ext cx="2423160" cy="3438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英文语言支持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地图搜索功能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保存搜索 + 新房源提醒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评价和评分系统（租客评价机构）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BD经理和管理员数据分析看板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按需添加其他支付方式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机构API接入扩展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841248"/>
            <a:ext cx="269748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87782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17336" y="116128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新模块 New Modules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7336" y="1463040"/>
            <a:ext cx="2697480" cy="3621024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554480"/>
            <a:ext cx="2423160" cy="3438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二手交易市场（类闲鱼）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用户发布二手商品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买家与卖家站内对话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商品帖子评论功能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本地新闻资讯展示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广告位展示和管理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按地区定向广告投放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828032"/>
            <a:ext cx="832104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4791456"/>
            <a:ext cx="182880" cy="182880"/>
          </a:xfrm>
          <a:prstGeom prst="ellipse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7433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第1-5月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98848" y="479145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497433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第6-10月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51776" y="4791456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97433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第11月+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10  未来模块 Future Modules (v2)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96112"/>
            <a:ext cx="7973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085041"/>
                </a:solidFill>
              </a:rPr>
              <a:t>以下模块不在v1范围内，但需要在架构设计阶段考虑可扩展性，避免v2开发时需要大规模重构。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512064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16736"/>
            <a:ext cx="64008" cy="3493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二手交易市场 Second-Hand Marketplace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类似闲鱼 (Xianyu) 的二手交易功能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993392"/>
            <a:ext cx="4846320" cy="268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用户发布二手商品：标题、描述、价格、照片、新旧程度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商品列表支持分类浏览和关键词搜索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买家可在平台内向卖家发起对话（站内即时通讯）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其他用户可在商品帖子下留公开评论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卖家可将商品标记为【已售出】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管理员可在后台审核和处理被举报的商品帖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评论和消息内容需接受内容安全审核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42432" y="1316736"/>
            <a:ext cx="2944368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42432" y="1316736"/>
            <a:ext cx="64008" cy="3493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13898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本地资讯与广告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Local News &amp; Ads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07024" y="1993392"/>
            <a:ext cx="2651760" cy="268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展示与租客所在地区相关的本地新闻资讯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新闻来源：授权第三方新闻API 或 管理员人工编辑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在首页、搜索结果页和公寓详情页展示广告位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管理员控制台管理广告投放：上传素材、设置地区定向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广告可面向周边商家出售（餐厅、超市等）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广告内容需符合平台规范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C"/>
                </a:solidFill>
              </a:rPr>
              <a:t>11  待确认问题 Open Questions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0" y="256032"/>
            <a:ext cx="2240280" cy="347472"/>
          </a:xfrm>
          <a:prstGeom prst="rect">
            <a:avLst/>
          </a:prstGeom>
          <a:solidFill>
            <a:srgbClr val="FCE8E6"/>
          </a:solidFill>
          <a:ln w="6350">
            <a:solidFill>
              <a:srgbClr val="DC4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5603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4E3A"/>
                </a:solidFill>
              </a:rPr>
              <a:t>7项待确认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77824"/>
            <a:ext cx="406908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77824"/>
            <a:ext cx="237744" cy="768096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77824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2376" y="9418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微信支付商户账户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12070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机构是否已持有可收取并持有押金的微信支付商户账户？这是v1支付的关键前提条件。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877824"/>
            <a:ext cx="406908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77824"/>
            <a:ext cx="237744" cy="768096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77824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65776" y="9418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电子签名法律效力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65776" y="12070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合同将在哪些国家/地区签署？各地电子签名法律效力不同，需逐国法律审查后才能上线。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773936"/>
            <a:ext cx="406908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773936"/>
            <a:ext cx="237744" cy="768096"/>
          </a:xfrm>
          <a:prstGeom prst="rect">
            <a:avLst/>
          </a:prstGeom>
          <a:solidFill>
            <a:srgbClr val="DC4E3A"/>
          </a:solidFill>
          <a:ln w="12700">
            <a:solidFill>
              <a:srgbClr val="DC4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73936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" y="1837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合同模板所有权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2376" y="2103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主合同模板由谁起草？法务部门、BD团队还是机构自备？各机构是否需要独立定制模板？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773936"/>
            <a:ext cx="406908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773936"/>
            <a:ext cx="23774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73936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65776" y="1837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机构API标准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65776" y="2103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机构接入是否遵循统一的API格式，还是需要为每个机构定制开发？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2670048"/>
            <a:ext cx="406908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670048"/>
            <a:ext cx="23774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70048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" y="2734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平台服务费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2376" y="29992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押金服务费率是多少？固定金额还是押金百分比？所有公寓类型和机构是否统一费率？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670048"/>
            <a:ext cx="406908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670048"/>
            <a:ext cx="23774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70048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65776" y="2734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大语言模型数据驻留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65776" y="29992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租客搜索对话和AI增强调用是否可以发送至境外LLM API，还是必须在中国境内处理（影响服务商选择）？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3566160"/>
            <a:ext cx="8321040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566160"/>
            <a:ext cx="237744" cy="7680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566160"/>
            <a:ext cx="237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2376" y="36393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新闻内容来源（v2）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2376" y="39136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本地新闻将通过授权第三方新闻API获取、管理员人工编辑，还是两者结合？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97280"/>
            <a:ext cx="3474720" cy="3474720"/>
          </a:xfrm>
          <a:prstGeom prst="ellipse">
            <a:avLst/>
          </a:prstGeom>
          <a:solidFill>
            <a:srgbClr val="2A3F7A">
              <a:alpha val="35000"/>
            </a:srgbClr>
          </a:solidFill>
          <a:ln w="12700">
            <a:solidFill>
              <a:srgbClr val="2A3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下一步 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设计启动前的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关键行动项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578608"/>
            <a:ext cx="7132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A8C4E0"/>
                </a:solidFill>
              </a:rPr>
              <a:t>确认微信支付商户账户状态（v1支付前提）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A8C4E0"/>
                </a:solidFill>
              </a:rPr>
              <a:t>委托法律顾问逐国审查电子签名合规性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A8C4E0"/>
                </a:solidFill>
              </a:rPr>
              <a:t>确定合同模板起草方和定制化策略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 err="1">
                <a:solidFill>
                  <a:srgbClr val="A8C4E0"/>
                </a:solidFill>
              </a:rPr>
              <a:t>与首批目标机构沟通API接入标准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A8C4E0"/>
                </a:solidFill>
              </a:rPr>
              <a:t>确定平台押金服务费率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A8C4E0"/>
                </a:solidFill>
              </a:rPr>
              <a:t>选定大语言模型服务商并确认数据驻留方案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A8C4E0"/>
                </a:solidFill>
              </a:rPr>
              <a:t>启动系统详细设计和数据建模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3982</TotalTime>
  <Words>1227</Words>
  <Application>Microsoft Office PowerPoint</Application>
  <PresentationFormat>On-screen Show (16:9)</PresentationFormat>
  <Paragraphs>400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Rental Property Platform — Requirements v5.0</dc:title>
  <dc:subject>PptxGenJS Presentation</dc:subject>
  <dc:creator>PptxGenJS</dc:creator>
  <cp:lastModifiedBy>Fei Ma</cp:lastModifiedBy>
  <cp:revision>3</cp:revision>
  <dcterms:created xsi:type="dcterms:W3CDTF">2026-06-05T09:10:55Z</dcterms:created>
  <dcterms:modified xsi:type="dcterms:W3CDTF">2026-06-08T03:36:35Z</dcterms:modified>
</cp:coreProperties>
</file>